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JetBrains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715500" y="533400"/>
            <a:ext cx="1866900" cy="2762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5657850"/>
            <a:ext cx="2447925" cy="666750"/>
          </a:xfrm>
          <a:prstGeom prst="roundRect">
            <a:avLst>
              <a:gd fmla="val 1714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286125" y="5657850"/>
            <a:ext cx="2181225" cy="666750"/>
          </a:xfrm>
          <a:prstGeom prst="roundRect">
            <a:avLst>
              <a:gd fmla="val 1714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5572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58959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0" y="58959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9848850" y="590550"/>
            <a:ext cx="1695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LinkedIn Carousel • 1 / 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2275582"/>
            <a:ext cx="930116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LWC Cheat Sheet &amp;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Patrones de Arquitectura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3605212"/>
            <a:ext cx="885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Guía de referencia rápida para desarrollo frontend en OmniScript, FlexCards e integración de servicios.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009650" y="590550"/>
            <a:ext cx="364926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SALESFORCE OMNISTUDIO / VLOCITY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238250" y="5819775"/>
            <a:ext cx="1976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Código y Métodos Clave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238250" y="6000750"/>
            <a:ext cx="1976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Snippets listos para usar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895725" y="5819775"/>
            <a:ext cx="1666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Flujos de Datos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895725" y="6000750"/>
            <a:ext cx="1666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IPs, DRs y DataJSON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609600" y="3065859"/>
            <a:ext cx="10972800" cy="2163663"/>
          </a:xfrm>
          <a:prstGeom prst="roundRect">
            <a:avLst>
              <a:gd fmla="val 52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1020425" y="604837"/>
            <a:ext cx="561975" cy="276225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2352675" y="1647229"/>
            <a:ext cx="2095500" cy="8001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905375" y="1647229"/>
            <a:ext cx="2095500" cy="8001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458075" y="1637704"/>
            <a:ext cx="2381250" cy="819150"/>
          </a:xfrm>
          <a:prstGeom prst="roundRect">
            <a:avLst>
              <a:gd fmla="val 13953" name="adj"/>
            </a:avLst>
          </a:prstGeom>
          <a:solidFill>
            <a:srgbClr val="E0F2FE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09600" y="5686127"/>
            <a:ext cx="5372100" cy="714375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210300" y="5686127"/>
            <a:ext cx="5372100" cy="714375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" y="5686127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210300" y="5686127"/>
            <a:ext cx="38100" cy="7143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934200" y="6057602"/>
            <a:ext cx="2600771" cy="209550"/>
          </a:xfrm>
          <a:prstGeom prst="roundRect">
            <a:avLst>
              <a:gd fmla="val 1818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9696896" y="6057602"/>
            <a:ext cx="1400472" cy="209550"/>
          </a:xfrm>
          <a:prstGeom prst="roundRect">
            <a:avLst>
              <a:gd fmla="val 1818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0575" y="1961554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3275" y="1961554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1153775" y="661987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 / 6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" y="3294459"/>
            <a:ext cx="11353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Importaciones requeridas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38200" y="3538239"/>
            <a:ext cx="11353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LightningElement } </a:t>
            </a: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'lwc'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8200" y="3782020"/>
            <a:ext cx="11353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OmniscriptBaseMixin } </a:t>
            </a: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'vlocity_cmt/omniscriptBaseMixin'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38200" y="4025800"/>
            <a:ext cx="11353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NavigationMixin } </a:t>
            </a: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'lightning/navigation'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38200" y="4513361"/>
            <a:ext cx="11353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Declaración con herencia encadenada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38200" y="4757142"/>
            <a:ext cx="11353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export default class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CustomOmniLwc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extends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OmniscriptBaseMixin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NavigationMixin</a:t>
            </a: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(LightningElement)) {}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09600" y="457200"/>
            <a:ext cx="6310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ESTRUCTURA DE CLASE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09600" y="657225"/>
            <a:ext cx="66258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Herencia y Mixins Fundamentales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2340768" y="1847254"/>
            <a:ext cx="2119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LWC Base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2340768" y="2047279"/>
            <a:ext cx="2119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LightningElement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893468" y="1847254"/>
            <a:ext cx="2119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Enrutamiento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4893468" y="2047279"/>
            <a:ext cx="2119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NavigationMixin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7422356" y="1847254"/>
            <a:ext cx="24526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API OmniScript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422356" y="2047279"/>
            <a:ext cx="2452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OmniscriptBaseMixin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38200" y="5838527"/>
            <a:ext cx="6191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Combinación de Mixins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838200" y="6067127"/>
            <a:ext cx="6191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Conecta la lógica de OmniScript con la navegación nativa de Salesforce.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438900" y="5838527"/>
            <a:ext cx="5753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Configuración Meta XML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438900" y="6067127"/>
            <a:ext cx="5753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 e 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991350" y="6076652"/>
            <a:ext cx="31366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runtimeNamespace: vlocity_cmt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754046" y="6076652"/>
            <a:ext cx="16362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isExposed: true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609600" y="5886450"/>
            <a:ext cx="10972800" cy="514350"/>
          </a:xfrm>
          <a:prstGeom prst="roundRect">
            <a:avLst>
              <a:gd fmla="val 18518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1020425" y="604837"/>
            <a:ext cx="561975" cy="276225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609600" y="1957387"/>
            <a:ext cx="5372100" cy="3000375"/>
          </a:xfrm>
          <a:prstGeom prst="roundRect">
            <a:avLst>
              <a:gd fmla="val 38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210300" y="1957387"/>
            <a:ext cx="5372100" cy="3000375"/>
          </a:xfrm>
          <a:prstGeom prst="roundRect">
            <a:avLst>
              <a:gd fmla="val 38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47725" y="3057525"/>
            <a:ext cx="4895850" cy="1662112"/>
          </a:xfrm>
          <a:prstGeom prst="roundRect">
            <a:avLst>
              <a:gd fmla="val 458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6448425" y="2871787"/>
            <a:ext cx="4895850" cy="1847850"/>
          </a:xfrm>
          <a:prstGeom prst="roundRect">
            <a:avLst>
              <a:gd fmla="val 412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228850" y="2528887"/>
            <a:ext cx="2343596" cy="209550"/>
          </a:xfrm>
          <a:prstGeom prst="roundRect">
            <a:avLst>
              <a:gd fmla="val 1818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324850" y="2528887"/>
            <a:ext cx="1314747" cy="209550"/>
          </a:xfrm>
          <a:prstGeom prst="roundRect">
            <a:avLst>
              <a:gd fmla="val 18181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048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22145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8425" y="22145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11153775" y="661987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 / 6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152525" y="6053137"/>
            <a:ext cx="9536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Recomendación: Centraliza llamadas complejas en Integration Procedures para optimizar límites de consumo.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09600" y="457200"/>
            <a:ext cx="6000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SERVICIOS DE BACKEND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09600" y="657225"/>
            <a:ext cx="63007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Invocación de IPs y DataRaptors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847725" y="2538412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Ejecución mediante .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00125" y="3209925"/>
            <a:ext cx="57388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</a:t>
            </a: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params = {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114425" y="3395662"/>
            <a:ext cx="56245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input: JSON.stringify(payload),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114425" y="3581400"/>
            <a:ext cx="56245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sClassName: </a:t>
            </a: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`${ns}IntegrationProcedureService`</a:t>
            </a: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114425" y="3767137"/>
            <a:ext cx="56245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sMethodName: </a:t>
            </a: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'Type_Name'</a:t>
            </a: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114425" y="3952875"/>
            <a:ext cx="56245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options: </a:t>
            </a: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'{}'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000125" y="4138612"/>
            <a:ext cx="57388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000125" y="4381500"/>
            <a:ext cx="573881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this._actionUtil.executeAction(params...)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448425" y="2538412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Lectura/Escritura mediante 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600825" y="3024187"/>
            <a:ext cx="55911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 </a:t>
            </a: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drRequest = {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715125" y="3209925"/>
            <a:ext cx="5476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type: </a:t>
            </a: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"DataRaptor"</a:t>
            </a: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715125" y="3395662"/>
            <a:ext cx="5476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value: {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829425" y="3581400"/>
            <a:ext cx="5362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bundleName: </a:t>
            </a: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"DR_ExtractDetails"</a:t>
            </a: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6829425" y="3767137"/>
            <a:ext cx="5362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inputMap: { </a:t>
            </a: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"Id"</a:t>
            </a: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recordId }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715125" y="3952875"/>
            <a:ext cx="5476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600825" y="4138612"/>
            <a:ext cx="55911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600825" y="4381500"/>
            <a:ext cx="55911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getDataHandler(JSON.stringify(drRequest))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1114425" y="2195512"/>
            <a:ext cx="31628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Integration Procedure (IP)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2286000" y="2547937"/>
            <a:ext cx="28151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OmniscriptActionCommonUtil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715125" y="2195512"/>
            <a:ext cx="31253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DataRaptor / DataMapper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8382000" y="2547937"/>
            <a:ext cx="15291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getDataHandler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/>
          <p:nvPr/>
        </p:nvSpPr>
        <p:spPr>
          <a:xfrm>
            <a:off x="609600" y="5257800"/>
            <a:ext cx="10972800" cy="11430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1020425" y="604837"/>
            <a:ext cx="561975" cy="276225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09600" y="2243137"/>
            <a:ext cx="3530649" cy="1800225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4330749" y="2243137"/>
            <a:ext cx="3530649" cy="1800225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051899" y="2243137"/>
            <a:ext cx="3530649" cy="1800225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5193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8874" y="25193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0024" y="25193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336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174" y="26336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0036" y="26336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11153775" y="661987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 / 6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838200" y="5448300"/>
            <a:ext cx="11353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Lectura segura sin mutación directa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838200" y="5619750"/>
            <a:ext cx="11353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localState = JSON.parse(JSON.stringify(</a:t>
            </a: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.omniJsonData));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38200" y="5867400"/>
            <a:ext cx="11353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Inyección de nuevos datos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38200" y="6038850"/>
            <a:ext cx="11353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.omniApplyCallResp({ </a:t>
            </a: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selectedAccount</a:t>
            </a: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accountId });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609600" y="457200"/>
            <a:ext cx="52030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MANEJO DE ESTADO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609600" y="657225"/>
            <a:ext cx="546318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 del Árbol DataJSON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847725" y="3090862"/>
            <a:ext cx="40088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omniApplyCallResp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847725" y="3367087"/>
            <a:ext cx="31496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Actualiza o inyecta claves específicas en el JSON activo sin reiniciar el estado.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4568874" y="3090862"/>
            <a:ext cx="40088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omniUpdateDataJson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4568874" y="3367087"/>
            <a:ext cx="31496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Sobrescribe el payload global completo del OmniScript con una estructura nueva.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8290024" y="3090862"/>
            <a:ext cx="390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omniJsonData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8290024" y="3367087"/>
            <a:ext cx="31496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Propiedad de solo lectura para acceder a la información almacenada en el flujo.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fmla="val 188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11020425" y="604837"/>
            <a:ext cx="561975" cy="276225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09600" y="1958429"/>
            <a:ext cx="5372100" cy="3007816"/>
          </a:xfrm>
          <a:prstGeom prst="roundRect">
            <a:avLst>
              <a:gd fmla="val 38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210300" y="1958429"/>
            <a:ext cx="5372100" cy="3007816"/>
          </a:xfrm>
          <a:prstGeom prst="roundRect">
            <a:avLst>
              <a:gd fmla="val 38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885825" y="3745408"/>
            <a:ext cx="4819650" cy="944612"/>
          </a:xfrm>
          <a:prstGeom prst="roundRect">
            <a:avLst>
              <a:gd fmla="val 806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6486525" y="3158579"/>
            <a:ext cx="4819650" cy="1531441"/>
          </a:xfrm>
          <a:prstGeom prst="roundRect">
            <a:avLst>
              <a:gd fmla="val 49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1781175" y="6048375"/>
            <a:ext cx="1400472" cy="209550"/>
          </a:xfrm>
          <a:prstGeom prst="roundRect">
            <a:avLst>
              <a:gd fmla="val 18181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06266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" y="224417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2244179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11153775" y="661987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 / 6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057275" y="6057900"/>
            <a:ext cx="815615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El método es invocado automáticamente por OmniScript al pulsar "Next".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09600" y="457200"/>
            <a:ext cx="65603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CONTROL DE FLUJO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09600" y="657225"/>
            <a:ext cx="68883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Navegación y Validaciones de Step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1838325" y="6067425"/>
            <a:ext cx="16362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checkValidity()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885825" y="2577554"/>
            <a:ext cx="49149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Avanza, retrocede o salta entre los pasos configurados dentro del OmniScript.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038225" y="3897808"/>
            <a:ext cx="564356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this.omniNextStep();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38225" y="4111079"/>
            <a:ext cx="564356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this.omniPrevStep();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038225" y="4324350"/>
            <a:ext cx="5643562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this.omniNavigateTo(</a:t>
            </a:r>
            <a:r>
              <a:rPr b="0" i="0" lang="en-US" sz="105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'StepName'</a:t>
            </a: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6486525" y="2577554"/>
            <a:ext cx="49149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Expone la validez del LWC para bloquear el avance del usuario si hay errores.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6638925" y="3310979"/>
            <a:ext cx="5553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renderedCallback() {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6753225" y="3509069"/>
            <a:ext cx="54387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this.omniValidate(true);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6638925" y="3707159"/>
            <a:ext cx="5553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6638925" y="3943350"/>
            <a:ext cx="5553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@api checkValidity() {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6753225" y="4141440"/>
            <a:ext cx="54387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this.isFormValid;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6638925" y="4339530"/>
            <a:ext cx="5553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209675" y="2234654"/>
            <a:ext cx="31753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Navegación Programática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6810375" y="2234654"/>
            <a:ext cx="33379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Validación del Componente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/>
          <p:nvPr/>
        </p:nvSpPr>
        <p:spPr>
          <a:xfrm>
            <a:off x="609600" y="5534025"/>
            <a:ext cx="10972800" cy="790575"/>
          </a:xfrm>
          <a:prstGeom prst="roundRect">
            <a:avLst>
              <a:gd fmla="val 16867" name="adj"/>
            </a:avLst>
          </a:prstGeom>
          <a:solidFill>
            <a:srgbClr val="0377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11020425" y="533400"/>
            <a:ext cx="561975" cy="2762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9172575" y="5724525"/>
            <a:ext cx="2143125" cy="409575"/>
          </a:xfrm>
          <a:prstGeom prst="roundRect">
            <a:avLst>
              <a:gd fmla="val 186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09600" y="2262187"/>
            <a:ext cx="10972800" cy="733425"/>
          </a:xfrm>
          <a:prstGeom prst="roundRect">
            <a:avLst>
              <a:gd fmla="val 1558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09600" y="3148012"/>
            <a:ext cx="10972800" cy="733425"/>
          </a:xfrm>
          <a:prstGeom prst="roundRect">
            <a:avLst>
              <a:gd fmla="val 1558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09600" y="4033837"/>
            <a:ext cx="10972800" cy="733425"/>
          </a:xfrm>
          <a:prstGeom prst="roundRect">
            <a:avLst>
              <a:gd fmla="val 1558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09600" y="2262187"/>
            <a:ext cx="38100" cy="7334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09600" y="3148012"/>
            <a:ext cx="38100" cy="7334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09600" y="4033837"/>
            <a:ext cx="38100" cy="7334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57626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1175" y="5843587"/>
            <a:ext cx="1619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5336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4194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43053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11153775" y="590550"/>
            <a:ext cx="390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6 / 6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609600" y="1576387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Construye componentes limpios y mantenibles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942975" y="590550"/>
            <a:ext cx="3119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RESUMEN DE BUENAS PRÁCTICAS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876300" y="5738812"/>
            <a:ext cx="5845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¿Quieres la Guía Técnica Completa?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876300" y="5957887"/>
            <a:ext cx="58459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Encuentra todos los patrones, meta XML y ejemplos en nuestro repositorio.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9639300" y="5838825"/>
            <a:ext cx="1809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Descargar en GitHub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200150" y="2433637"/>
            <a:ext cx="7048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Desvincula Referencias Directas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200150" y="2643187"/>
            <a:ext cx="704887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Realiza clonación profunda de </a:t>
            </a:r>
            <a:r>
              <a:rPr b="0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omniJsonData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evitar mutaciones no deseadas.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1219200" y="3319462"/>
            <a:ext cx="6524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Aprovecha los Getters de LWC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1219200" y="3529012"/>
            <a:ext cx="6524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Simplifica la lógica del template HTML evaluando condiciones en JavaScript.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247775" y="4205287"/>
            <a:ext cx="6500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Desacoplamiento Mínimo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247775" y="4414837"/>
            <a:ext cx="65008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el componente no requiere la interfaz de OmniScript, prescinde del Mixin.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